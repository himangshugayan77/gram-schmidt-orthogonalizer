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charts/chart1.xml" ContentType="application/vnd.openxmlformats-officedocument.drawingml.chart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1626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B1626"/>
                </a:solidFill>
                <a:latin typeface="Calibri"/>
              </a:rPr>
              <a:t>Measured cycles per decomposition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cycles</c:v>
                </c:pt>
              </c:strCache>
            </c:strRef>
          </c:tx>
          <c:spPr>
            <a:solidFill>
              <a:srgbClr val="2EC4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5A6B7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8×4 P=1</c:v>
                  </c:pt>
                  <c:pt idx="1">
                    <c:v>8×4 P=2</c:v>
                  </c:pt>
                  <c:pt idx="2">
                    <c:v>8×4 P=4</c:v>
                  </c:pt>
                  <c:pt idx="3">
                    <c:v>8×4 P=8</c:v>
                  </c:pt>
                  <c:pt idx="4">
                    <c:v>16×8 P=4</c:v>
                  </c:pt>
                  <c:pt idx="5">
                    <c:v>64×8 P=8</c:v>
                  </c:pt>
                  <c:pt idx="6">
                    <c:v>64×16 P=8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625</c:v>
                </c:pt>
                <c:pt idx="1">
                  <c:v>497</c:v>
                </c:pt>
                <c:pt idx="2">
                  <c:v>433</c:v>
                </c:pt>
                <c:pt idx="3">
                  <c:v>401</c:v>
                </c:pt>
                <c:pt idx="4">
                  <c:v>1601</c:v>
                </c:pt>
                <c:pt idx="5">
                  <c:v>2753</c:v>
                </c:pt>
                <c:pt idx="6">
                  <c:v>7937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5A6B7D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7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00"/>
        </c:scaling>
        <c:delete val="0"/>
        <c:axPos val="l"/>
        <c:majorGridlines>
          <c:spPr>
            <a:ln w="12700" cap="flat">
              <a:solidFill>
                <a:srgbClr val="E1E7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 of the deck: start from what QR decomposition is, why it matters, then move gradually into the fixed-point hardware design and the Verilog files that implement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is the input. Q holds the orthonormalised directions, R holds the coefficients that rebuild A from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Software QR is fine for one-off computation. Hardware pays off when the decomposition is on the critical path of a streaming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entire algorithm reduces to two primitives. That is what makes it a good fit for a small fixed datapath.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single most important decision in the project. In floating point the difference is academic; in 18-bit fixed point it decides whether the core works at 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slide: the algorithm is settled, now the implementation constraints take over.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Fixed point trades automatic range handling for area and predictability. The next slide is the contract that buys back safety.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single scaling condition on the input guarantees the whole pipeline. Guard bits in the accumulator do the rest.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memory, two arithmetic blocks, one reciprocal-sqrt unit, one FSM. Everything else is addressing.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Column j is normalised, then its projection is removed from every column to its right, before moving to column j+1.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mode bit is the only structural difference between normalisation and projection removal.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trick that keeps the whole engine small. A divider would have dominated both area and critical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unit runs once per column, so its 24-cycle latency is negligible against the streaming phases.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In-place update is what keeps the memory small; the delay line is the price, and it must be exact.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Back-to-back decompositions need no reset; the testbench asserts two consecutive runs are identical.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the concrete files.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Line counts are real. gs_top is the biggest file because it holds all the addressing and the FSM.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parameter list is the whole configuration surface of the core.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Guard bits are cheap in an accumulator and expensive to do without.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bit-accurate model is what turns 'looks about right' into a pass/fail signal.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layer catches a class the others cannot. That separation is what made the scalar-saturation bug findable.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Coverage spans lane counts, geometries including N=1 and M=N, and all six matrix cases.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Worth being candid that two of the early failures were testbench defects, not RTL defects.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Cycle counts measured with no back-pressure, using the -DGS_NOSTALL testbench option.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Stating limits precisely is part of the deliverable — a numerical block whose failure mode is undocumented is not finished.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three decisions and the one-line way to reproduce every number in the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120640" cy="5120640"/>
          </a:xfrm>
          <a:prstGeom prst="ellipse">
            <a:avLst/>
          </a:prstGeom>
          <a:solidFill>
            <a:srgbClr val="122540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023360"/>
            <a:ext cx="3108960" cy="3108960"/>
          </a:xfrm>
          <a:prstGeom prst="ellipse">
            <a:avLst/>
          </a:prstGeom>
          <a:solidFill>
            <a:srgbClr val="0F203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 ·  NUMERICAL  LINEAR  ALGEBRA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8595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Fixed-Point Gram–Schmidt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QR Decomposition Engine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Synthesisable Verilog-2001  ·  Modified Gram–Schmidt  ·  Fully parameterised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43434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9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22960" y="4892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 modules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37560" y="43434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9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23/23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337560" y="4892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configs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52160" y="43434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9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2P+1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852160" y="4892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366760" y="43434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9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366760" y="4892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ulp worst rsqrt error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5120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Q · R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matrix, factored into two useful ones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14400" y="1828800"/>
            <a:ext cx="1371600" cy="2194560"/>
          </a:xfrm>
          <a:prstGeom prst="rect">
            <a:avLst/>
          </a:prstGeom>
          <a:solidFill>
            <a:srgbClr val="E8EEF5"/>
          </a:solidFill>
          <a:ln w="19050">
            <a:solidFill>
              <a:srgbClr val="8FA3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41330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  (M×N)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468880" y="1828800"/>
            <a:ext cx="457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A6B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017520" y="1828800"/>
            <a:ext cx="1371600" cy="2194560"/>
          </a:xfrm>
          <a:prstGeom prst="rect">
            <a:avLst/>
          </a:prstGeom>
          <a:solidFill>
            <a:srgbClr val="D6F3F0"/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7520" y="41330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   (M×N)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0" y="1828800"/>
            <a:ext cx="365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A6B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029200" y="1828800"/>
            <a:ext cx="1371600" cy="1371600"/>
          </a:xfrm>
          <a:prstGeom prst="rect">
            <a:avLst/>
          </a:prstGeom>
          <a:solidFill>
            <a:srgbClr val="FFE3B8"/>
          </a:solidFill>
          <a:ln w="19050">
            <a:solidFill>
              <a:srgbClr val="FF9F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0" y="1828800"/>
            <a:ext cx="1325880" cy="1325880"/>
          </a:xfrm>
          <a:prstGeom prst="rtTriangl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33101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  (N×N)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47488" y="276148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A7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504688" y="202996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9A7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non-zero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949440" y="1737360"/>
            <a:ext cx="46634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8A97A8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178040" y="187452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is orthonormal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column has unit length and is perpendicular to every other. Formally  QᵀQ = I.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949440" y="3127248"/>
            <a:ext cx="46634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8A97A8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178040" y="3264408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C97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 is upper triangular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below the diagonal is exactly zero, so systems in R solve by back-substitution.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949440" y="4517136"/>
            <a:ext cx="46634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8A97A8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178040" y="4654296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factor at all?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 with A directly squares the condition number. Solving with Q and R does not — the error stays proportional to κ(A).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14400" y="470916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i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Orthonormal columns are numerically precious: they never amplify error.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i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the whole reason QR exists.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engine computes the thin QR decomposition, with M ≥ N.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hardware QR engine is worth building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8A97A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92808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92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85623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MIMO wireless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2258568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and precoding in 5G need QR of the channel matrix every coherence interval — thousands of times a second.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600200"/>
            <a:ext cx="53949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8A97A8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0" y="1892808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1892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132320" y="185623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beamforming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32320" y="2258568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and array processing solve constrained least-squares continuously, in real time.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566160"/>
            <a:ext cx="53949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8A97A8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3858768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38221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Kalman filtering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4224528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Square-root filters propagate a triangular factor instead of the covariance, staying stable.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09360" y="3566160"/>
            <a:ext cx="53949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8A97A8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83680" y="3858768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32320" y="38221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squares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32320" y="4224528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‖Ax − b‖ becomes Rx = Qᵀb — a triangular solve, no normal equations, no squared condition number.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56235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thread: the same decomposition, repeated at high rate, with a hard latency budget — exactly the case where a CPU or DSP stops being enough.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ALGORITHM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Gram–Schmidt: remove what you already have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71600" y="4297680"/>
            <a:ext cx="3108960" cy="0"/>
          </a:xfrm>
          <a:prstGeom prst="line">
            <a:avLst/>
          </a:prstGeom>
          <a:noFill/>
          <a:ln w="38100">
            <a:solidFill>
              <a:srgbClr val="2EC4B6"/>
            </a:solidFill>
            <a:prstDash val="solid"/>
            <a:tailEnd type="triangle"/>
          </a:ln>
        </p:spPr>
      </p:sp>
      <p:sp>
        <p:nvSpPr>
          <p:cNvPr id="5" name="Text 3"/>
          <p:cNvSpPr/>
          <p:nvPr/>
        </p:nvSpPr>
        <p:spPr>
          <a:xfrm>
            <a:off x="4526280" y="4133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q₀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371600" y="4297680"/>
            <a:ext cx="2286000" cy="-2011680"/>
          </a:xfrm>
          <a:prstGeom prst="line">
            <a:avLst/>
          </a:prstGeom>
          <a:noFill/>
          <a:ln w="38100">
            <a:solidFill>
              <a:srgbClr val="0B1626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3657600" y="1965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a₁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71600" y="4407408"/>
            <a:ext cx="2286000" cy="0"/>
          </a:xfrm>
          <a:prstGeom prst="line">
            <a:avLst/>
          </a:prstGeom>
          <a:noFill/>
          <a:ln w="38100">
            <a:solidFill>
              <a:srgbClr val="FF9F1C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1874520" y="44805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7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(q₀·a₁) q₀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0" y="4297680"/>
            <a:ext cx="0" cy="-2011680"/>
          </a:xfrm>
          <a:prstGeom prst="line">
            <a:avLst/>
          </a:prstGeom>
          <a:noFill/>
          <a:ln w="38100">
            <a:solidFill>
              <a:srgbClr val="8A5FBF"/>
            </a:solidFill>
            <a:prstDash val="dash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3767328" y="2971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= a₁ − projection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83280" y="39136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⌐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48920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residual is perpendicular to q₀ by construction. Normalise it and it becomes q₁.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309360" y="1600200"/>
            <a:ext cx="5303520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8A97A8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83680" y="17830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for every column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583680" y="2240280"/>
            <a:ext cx="329184" cy="32918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2240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040880" y="22219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12480" y="222199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R[j][j] = ‖v_j‖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583680" y="2862072"/>
            <a:ext cx="329184" cy="32918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28620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040880" y="284378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412480" y="284378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q_j = v_j · (1/‖v_j‖)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583680" y="3483864"/>
            <a:ext cx="329184" cy="32918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0" y="34838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040880" y="346557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412480" y="346557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R[j][k] = q_j · v_k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583680" y="4105656"/>
            <a:ext cx="329184" cy="32918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9" name="Text 27"/>
          <p:cNvSpPr/>
          <p:nvPr/>
        </p:nvSpPr>
        <p:spPr>
          <a:xfrm>
            <a:off x="6583680" y="41056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040880" y="408736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412480" y="40873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v_k = v_k − R[j][k]·q_j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48640" y="55778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phases, and every one is either a dot product or a vector scaled by a scalar — two operations the hardware has to be good at.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DECISION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Classical vs Modified Gram–Schmidt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94960" cy="2514600"/>
          </a:xfrm>
          <a:prstGeom prst="roundRect">
            <a:avLst>
              <a:gd name="adj" fmla="val 2182"/>
            </a:avLst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7276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7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Gram–Schmidt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4846320" cy="868680"/>
          </a:xfrm>
          <a:prstGeom prst="roundRect">
            <a:avLst>
              <a:gd name="adj" fmla="val 3158"/>
            </a:avLst>
          </a:prstGeom>
          <a:solidFill>
            <a:srgbClr val="0A1526"/>
          </a:solidFill>
          <a:ln w="12700">
            <a:solidFill>
              <a:srgbClr val="2435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2075688"/>
            <a:ext cx="451713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FE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= a_k − Σ (q_j · a_k) q_j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9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projection is measured against the ORIGINAL column. Errors already sitting in q_j are never observed again, so they simply pile up.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417320"/>
            <a:ext cx="5394960" cy="2514600"/>
          </a:xfrm>
          <a:prstGeom prst="roundRect">
            <a:avLst>
              <a:gd name="adj" fmla="val 2182"/>
            </a:avLst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57276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Modified Gram–Schmidt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92240" y="1965960"/>
            <a:ext cx="4846320" cy="868680"/>
          </a:xfrm>
          <a:prstGeom prst="roundRect">
            <a:avLst>
              <a:gd name="adj" fmla="val 3158"/>
            </a:avLst>
          </a:prstGeom>
          <a:solidFill>
            <a:srgbClr val="0A1526"/>
          </a:solidFill>
          <a:ln w="12700">
            <a:solidFill>
              <a:srgbClr val="2435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56832" y="2075688"/>
            <a:ext cx="451713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FE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= a_k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FE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j &lt; k:  v ← v − (q_j · v) q_j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92240" y="292608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9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projection is measured against the RUNNING residual, so an error in q_j is partly cancelled by the projections that follow it.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539496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8A97A8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" y="431596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of orthogonality  ∝  u · κ(A)²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" y="47091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κ = 10³ that is roughly 5×10⁵ LSB — past full scale. Nothing usable comes out.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0" y="4160520"/>
            <a:ext cx="539496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8A97A8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92240" y="431596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8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of orthogonality  ∝  u · κ(A)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92240" y="47091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on this hardware at κ = 10³:  102 LSB.  The squared term is gone.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price of MGS is a sequential inner loop — the next coefficient cannot be computed until the previous update lands. This design pays it, and buys throughput back with lane parallelism instead.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3108960"/>
            <a:ext cx="4754880" cy="4754880"/>
          </a:xfrm>
          <a:prstGeom prst="ellipse">
            <a:avLst/>
          </a:prstGeom>
          <a:solidFill>
            <a:srgbClr val="122540"/>
          </a:solidFill>
          <a:ln/>
        </p:spPr>
      </p:sp>
      <p:sp>
        <p:nvSpPr>
          <p:cNvPr id="3" name="Text 1"/>
          <p:cNvSpPr/>
          <p:nvPr/>
        </p:nvSpPr>
        <p:spPr>
          <a:xfrm>
            <a:off x="4206240" y="2468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206240" y="283464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mathematics</a:t>
            </a:r>
            <a:endParaRPr lang="en-US" sz="3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silicon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206240" y="43891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when the numbers stop being real, and start being 18 bits wide.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REPRESENTATION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Fixed point: an integer with an agreed binary point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566928" cy="566928"/>
          </a:xfrm>
          <a:prstGeom prst="rect">
            <a:avLst/>
          </a:prstGeom>
          <a:solidFill>
            <a:srgbClr val="FFE0E0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89888" y="1874520"/>
            <a:ext cx="566928" cy="566928"/>
          </a:xfrm>
          <a:prstGeom prst="rect">
            <a:avLst/>
          </a:prstGeom>
          <a:solidFill>
            <a:srgbClr val="FFF0DA"/>
          </a:solidFill>
          <a:ln w="15240">
            <a:solidFill>
              <a:srgbClr val="FF9F1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56816" y="1874520"/>
            <a:ext cx="566928" cy="566928"/>
          </a:xfrm>
          <a:prstGeom prst="rect">
            <a:avLst/>
          </a:prstGeom>
          <a:solidFill>
            <a:srgbClr val="D6F3F0"/>
          </a:solidFill>
          <a:ln w="15240">
            <a:solidFill>
              <a:srgbClr val="2EC4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23744" y="1874520"/>
            <a:ext cx="566928" cy="566928"/>
          </a:xfrm>
          <a:prstGeom prst="rect">
            <a:avLst/>
          </a:prstGeom>
          <a:solidFill>
            <a:srgbClr val="D6F3F0"/>
          </a:solidFill>
          <a:ln w="15240">
            <a:solidFill>
              <a:srgbClr val="2EC4B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90672" y="1874520"/>
            <a:ext cx="566928" cy="566928"/>
          </a:xfrm>
          <a:prstGeom prst="rect">
            <a:avLst/>
          </a:prstGeom>
          <a:solidFill>
            <a:srgbClr val="D6F3F0"/>
          </a:solidFill>
          <a:ln w="15240">
            <a:solidFill>
              <a:srgbClr val="2EC4B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0" y="1874520"/>
            <a:ext cx="566928" cy="566928"/>
          </a:xfrm>
          <a:prstGeom prst="rect">
            <a:avLst/>
          </a:prstGeom>
          <a:solidFill>
            <a:srgbClr val="D6F3F0"/>
          </a:solidFill>
          <a:ln w="15240">
            <a:solidFill>
              <a:srgbClr val="2EC4B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24528" y="1874520"/>
            <a:ext cx="566928" cy="566928"/>
          </a:xfrm>
          <a:prstGeom prst="rect">
            <a:avLst/>
          </a:prstGeom>
          <a:solidFill>
            <a:srgbClr val="D6F3F0"/>
          </a:solidFill>
          <a:ln w="15240">
            <a:solidFill>
              <a:srgbClr val="2EC4B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91456" y="1874520"/>
            <a:ext cx="566928" cy="566928"/>
          </a:xfrm>
          <a:prstGeom prst="rect">
            <a:avLst/>
          </a:prstGeom>
          <a:solidFill>
            <a:srgbClr val="D6F3F0"/>
          </a:solidFill>
          <a:ln w="15240">
            <a:solidFill>
              <a:srgbClr val="2EC4B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58384" y="1874520"/>
            <a:ext cx="566928" cy="566928"/>
          </a:xfrm>
          <a:prstGeom prst="rect">
            <a:avLst/>
          </a:prstGeom>
          <a:solidFill>
            <a:srgbClr val="D6F3F0"/>
          </a:solidFill>
          <a:ln w="15240">
            <a:solidFill>
              <a:srgbClr val="2EC4B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25312" y="1874520"/>
            <a:ext cx="566928" cy="566928"/>
          </a:xfrm>
          <a:prstGeom prst="rect">
            <a:avLst/>
          </a:prstGeom>
          <a:solidFill>
            <a:srgbClr val="D6F3F0"/>
          </a:solidFill>
          <a:ln w="15240">
            <a:solidFill>
              <a:srgbClr val="2EC4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89888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7B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2⁰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956816" y="1874520"/>
            <a:ext cx="4535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783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2⁻¹  2⁻²  2⁻³   ···   2⁻¹⁶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453896" y="24963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binary point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" y="14904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= 18 bits total,  F = 16 fractional  →  Q2.16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22960" y="30632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as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423160" y="30632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plain two's-complement integer  x · 2¹⁶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22960" y="3520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2423160" y="35204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−2  to  +1.99998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22960" y="39776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2423160" y="39776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2⁻¹⁶  ≈  0.0000153   (one LSB)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22960" y="4434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cost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2423160" y="44348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 ordinary integer multiplier — no exponent logic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949440" y="1783080"/>
            <a:ext cx="466344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8A97A8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223760" y="1965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floating point?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223760" y="2523744"/>
            <a:ext cx="118872" cy="11887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0" name="Text 28"/>
          <p:cNvSpPr/>
          <p:nvPr/>
        </p:nvSpPr>
        <p:spPr>
          <a:xfrm>
            <a:off x="7452360" y="2468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452360" y="27432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float multiplier costs several times an integer one, plus normalisation and rounding logic.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223760" y="3346704"/>
            <a:ext cx="118872" cy="11887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3" name="Text 31"/>
          <p:cNvSpPr/>
          <p:nvPr/>
        </p:nvSpPr>
        <p:spPr>
          <a:xfrm>
            <a:off x="7452360" y="3291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452360" y="35661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 handling adds pipeline depth that a streaming core pays for on every operation.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223760" y="4169664"/>
            <a:ext cx="118872" cy="11887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6" name="Text 34"/>
          <p:cNvSpPr/>
          <p:nvPr/>
        </p:nvSpPr>
        <p:spPr>
          <a:xfrm>
            <a:off x="7452360" y="4114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Predictability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452360" y="43891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point has one uniform LSB. Error analysis becomes arithmetic, not statistics.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catch: fixed point has no automatic scaling. Every range decision becomes the designer's responsibility.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FIXED-POINT CONTRACT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input rule keeps the entire datapath in range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2763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A so that every column satisfies  ‖a_j‖ &lt; 2. </a:t>
            </a:r>
            <a:pPr indent="0" marL="0">
              <a:buNone/>
            </a:pPr>
            <a:r>
              <a:rPr lang="en-US" sz="17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sufficient condition is  |a_ij| ≤ 1/√M.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2514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52344"/>
            <a:ext cx="251460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‖a_j‖ &lt; 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131820"/>
            <a:ext cx="2514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input rule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090672" y="3127248"/>
            <a:ext cx="310896" cy="0"/>
          </a:xfrm>
          <a:prstGeom prst="line">
            <a:avLst/>
          </a:prstGeom>
          <a:noFill/>
          <a:ln w="19050">
            <a:solidFill>
              <a:srgbClr val="5A6B7D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429000" y="2697480"/>
            <a:ext cx="2514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2752344"/>
            <a:ext cx="251460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‖v‖ ≤ ‖a_j‖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29000" y="3131820"/>
            <a:ext cx="2514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residuals only shrink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971032" y="3127248"/>
            <a:ext cx="310896" cy="0"/>
          </a:xfrm>
          <a:prstGeom prst="line">
            <a:avLst/>
          </a:prstGeom>
          <a:noFill/>
          <a:ln w="19050">
            <a:solidFill>
              <a:srgbClr val="5A6B7D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309360" y="2697480"/>
            <a:ext cx="2514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2752344"/>
            <a:ext cx="251460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|r_kj| ≤ ‖a_j‖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9360" y="3131820"/>
            <a:ext cx="2514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is bounded too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851392" y="3127248"/>
            <a:ext cx="310896" cy="0"/>
          </a:xfrm>
          <a:prstGeom prst="line">
            <a:avLst/>
          </a:prstGeom>
          <a:noFill/>
          <a:ln w="19050">
            <a:solidFill>
              <a:srgbClr val="5A6B7D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189720" y="2697480"/>
            <a:ext cx="2514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89720" y="2752344"/>
            <a:ext cx="251460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|q_ij| ≤ 1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89720" y="3131820"/>
            <a:ext cx="2514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 is always representable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48640" y="3703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Q is orthonormal by construction, its entries can never exceed 1 — so bounding the input bounds everything downstream.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4206240"/>
            <a:ext cx="11064240" cy="384048"/>
          </a:xfrm>
          <a:prstGeom prst="rect">
            <a:avLst/>
          </a:prstGeom>
          <a:solidFill>
            <a:srgbClr val="E3E9F0"/>
          </a:solidFill>
          <a:ln w="6350">
            <a:solidFill>
              <a:srgbClr val="E3E9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42062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310128" y="42062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870448" y="4206240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58368" y="459028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A, V, Q, R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310128" y="459028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Q2.16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870448" y="4590288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datapath word, W = 18 bits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4974336"/>
            <a:ext cx="110642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" y="497433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 accumulator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3310128" y="497433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Q16.32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870448" y="4974336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bits — every partial sum exact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58368" y="535838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1/‖v‖ and ‖v‖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3310128" y="535838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Q12.20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870448" y="5358384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scalars, range ±2048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48640" y="5742432"/>
            <a:ext cx="110642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" y="574243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rsqrt mantissa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3310128" y="574243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Q2.30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870448" y="5742432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internal, normalised to [1,4)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Violations saturate rather than wrap, and raise the sticky ovf_flag output — the core never silently produces nonsense.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Top-level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788920"/>
            <a:ext cx="1600200" cy="731520"/>
          </a:xfrm>
          <a:prstGeom prst="roundRect">
            <a:avLst>
              <a:gd name="adj" fmla="val 10000"/>
            </a:avLst>
          </a:prstGeom>
          <a:solidFill>
            <a:srgbClr val="E8EEF5"/>
          </a:solidFill>
          <a:ln w="19050">
            <a:solidFill>
              <a:srgbClr val="8FA3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843784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stream in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3154680"/>
            <a:ext cx="160020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B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column-major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A6B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M·N beats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176272" y="3154680"/>
            <a:ext cx="274320" cy="0"/>
          </a:xfrm>
          <a:prstGeom prst="line">
            <a:avLst/>
          </a:prstGeom>
          <a:noFill/>
          <a:ln w="19050">
            <a:solidFill>
              <a:srgbClr val="5A6B7D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468880" y="2194560"/>
            <a:ext cx="2194560" cy="1828800"/>
          </a:xfrm>
          <a:prstGeom prst="roundRect">
            <a:avLst>
              <a:gd name="adj" fmla="val 3000"/>
            </a:avLst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0" y="2331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RAM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468880" y="26060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ram_2r1w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514600" y="28803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A9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read · 1 write</a:t>
            </a:r>
            <a:endParaRPr lang="en-US" sz="950" dirty="0"/>
          </a:p>
          <a:p>
            <a:pPr algn="ctr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A9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 P·W   depth (M/P)·N</a:t>
            </a:r>
            <a:endParaRPr lang="en-US" sz="950" dirty="0"/>
          </a:p>
          <a:p>
            <a:pPr algn="ctr" indent="0" marL="0">
              <a:lnSpc>
                <a:spcPts val="1250"/>
              </a:lnSpc>
              <a:buNone/>
            </a:pPr>
            <a:endParaRPr lang="en-US" sz="950" dirty="0"/>
          </a:p>
          <a:p>
            <a:pPr algn="ctr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A9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A → V → Q  in place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90872" y="2148840"/>
            <a:ext cx="402336" cy="0"/>
          </a:xfrm>
          <a:prstGeom prst="line">
            <a:avLst/>
          </a:prstGeom>
          <a:noFill/>
          <a:ln w="19050">
            <a:solidFill>
              <a:srgbClr val="5A6B7D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690872" y="3977640"/>
            <a:ext cx="402336" cy="0"/>
          </a:xfrm>
          <a:prstGeom prst="line">
            <a:avLst/>
          </a:prstGeom>
          <a:noFill/>
          <a:ln w="19050">
            <a:solidFill>
              <a:srgbClr val="5A6B7D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4718304" y="190195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A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718304" y="373075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B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120640" y="1737360"/>
            <a:ext cx="21031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0" y="1792224"/>
            <a:ext cx="210312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vec_mac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20640" y="2148840"/>
            <a:ext cx="210312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mults + adder tree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A6B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exact ACC_W accumulator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120640" y="3566160"/>
            <a:ext cx="21031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FF9F1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3621024"/>
            <a:ext cx="210312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vec_axpy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120640" y="3977640"/>
            <a:ext cx="210312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mults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A6B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 · scale-and-subtract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251192" y="2148840"/>
            <a:ext cx="493776" cy="0"/>
          </a:xfrm>
          <a:prstGeom prst="line">
            <a:avLst/>
          </a:prstGeom>
          <a:noFill/>
          <a:ln w="19050">
            <a:solidFill>
              <a:srgbClr val="5A6B7D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772400" y="173736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8A5FB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0" y="1792224"/>
            <a:ext cx="237744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rsqrt_unit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772400" y="2148840"/>
            <a:ext cx="237744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Newton–Raphson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A6B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shared 34×34 multiplier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635240" y="2578608"/>
            <a:ext cx="0" cy="1700784"/>
          </a:xfrm>
          <a:prstGeom prst="line">
            <a:avLst/>
          </a:prstGeom>
          <a:noFill/>
          <a:ln w="17780">
            <a:solidFill>
              <a:srgbClr val="8A5FBF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7223760" y="4279392"/>
            <a:ext cx="411480" cy="0"/>
          </a:xfrm>
          <a:prstGeom prst="line">
            <a:avLst/>
          </a:prstGeom>
          <a:noFill/>
          <a:ln w="17780">
            <a:solidFill>
              <a:srgbClr val="8A5FBF"/>
            </a:solidFill>
            <a:prstDash val="dash"/>
            <a:headEnd type="triangle"/>
          </a:ln>
        </p:spPr>
      </p:sp>
      <p:sp>
        <p:nvSpPr>
          <p:cNvPr id="28" name="Text 26"/>
          <p:cNvSpPr/>
          <p:nvPr/>
        </p:nvSpPr>
        <p:spPr>
          <a:xfrm>
            <a:off x="6172200" y="43159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B4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1/‖v‖ scalar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772400" y="379476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FFF6E8"/>
          </a:solidFill>
          <a:ln w="19050">
            <a:solidFill>
              <a:srgbClr val="FF9F1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849624"/>
            <a:ext cx="237744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RAM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772400" y="4137660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B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ram_1r1w   N·N words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8961120" y="2578608"/>
            <a:ext cx="0" cy="1188720"/>
          </a:xfrm>
          <a:prstGeom prst="line">
            <a:avLst/>
          </a:prstGeom>
          <a:noFill/>
          <a:ln w="17780">
            <a:solidFill>
              <a:srgbClr val="8A5FBF"/>
            </a:solidFill>
            <a:prstDash val="solid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9052560" y="303580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4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‖v‖ → R[j][j]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577840" y="2578608"/>
            <a:ext cx="0" cy="621792"/>
          </a:xfrm>
          <a:prstGeom prst="line">
            <a:avLst/>
          </a:prstGeom>
          <a:noFill/>
          <a:ln w="16510">
            <a:solidFill>
              <a:srgbClr val="5A6B7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577840" y="3200400"/>
            <a:ext cx="1920240" cy="0"/>
          </a:xfrm>
          <a:prstGeom prst="line">
            <a:avLst/>
          </a:prstGeom>
          <a:noFill/>
          <a:ln w="16510">
            <a:solidFill>
              <a:srgbClr val="5A6B7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98080" y="3200400"/>
            <a:ext cx="0" cy="777240"/>
          </a:xfrm>
          <a:prstGeom prst="line">
            <a:avLst/>
          </a:prstGeom>
          <a:noFill/>
          <a:ln w="16510">
            <a:solidFill>
              <a:srgbClr val="5A6B7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98080" y="3977640"/>
            <a:ext cx="256032" cy="0"/>
          </a:xfrm>
          <a:prstGeom prst="line">
            <a:avLst/>
          </a:prstGeom>
          <a:noFill/>
          <a:ln w="16510">
            <a:solidFill>
              <a:srgbClr val="5A6B7D"/>
            </a:solidFill>
            <a:prstDash val="solid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5715000" y="294436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R[j][k]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172200" y="4407408"/>
            <a:ext cx="0" cy="384048"/>
          </a:xfrm>
          <a:prstGeom prst="line">
            <a:avLst/>
          </a:prstGeom>
          <a:noFill/>
          <a:ln w="19050">
            <a:solidFill>
              <a:srgbClr val="FF9F1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566160" y="4791456"/>
            <a:ext cx="2606040" cy="0"/>
          </a:xfrm>
          <a:prstGeom prst="line">
            <a:avLst/>
          </a:prstGeom>
          <a:noFill/>
          <a:ln w="19050">
            <a:solidFill>
              <a:srgbClr val="FF9F1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566160" y="4791456"/>
            <a:ext cx="0" cy="-749808"/>
          </a:xfrm>
          <a:prstGeom prst="line">
            <a:avLst/>
          </a:prstGeom>
          <a:noFill/>
          <a:ln w="19050">
            <a:solidFill>
              <a:srgbClr val="FF9F1C"/>
            </a:solidFill>
            <a:prstDash val="solid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3703320" y="452628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97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write-back, in place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017520" y="4041648"/>
            <a:ext cx="0" cy="969264"/>
          </a:xfrm>
          <a:prstGeom prst="line">
            <a:avLst/>
          </a:prstGeom>
          <a:noFill/>
          <a:ln w="17780">
            <a:solidFill>
              <a:srgbClr val="2EC4B6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2468880" y="5029200"/>
            <a:ext cx="2194560" cy="658368"/>
          </a:xfrm>
          <a:prstGeom prst="roundRect">
            <a:avLst>
              <a:gd name="adj" fmla="val 11111"/>
            </a:avLst>
          </a:prstGeom>
          <a:solidFill>
            <a:srgbClr val="E8EEF5"/>
          </a:solidFill>
          <a:ln w="19050">
            <a:solidFill>
              <a:srgbClr val="8FA3B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468880" y="5084064"/>
            <a:ext cx="219456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out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2468880" y="5358384"/>
            <a:ext cx="2194560" cy="289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B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column-major   M·N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8961120" y="4498848"/>
            <a:ext cx="0" cy="512064"/>
          </a:xfrm>
          <a:prstGeom prst="line">
            <a:avLst/>
          </a:prstGeom>
          <a:noFill/>
          <a:ln w="17780">
            <a:solidFill>
              <a:srgbClr val="FF9F1C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7772400" y="5029200"/>
            <a:ext cx="2377440" cy="658368"/>
          </a:xfrm>
          <a:prstGeom prst="roundRect">
            <a:avLst>
              <a:gd name="adj" fmla="val 11111"/>
            </a:avLst>
          </a:prstGeom>
          <a:solidFill>
            <a:srgbClr val="E8EEF5"/>
          </a:solidFill>
          <a:ln w="19050">
            <a:solidFill>
              <a:srgbClr val="8FA3B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772400" y="5084064"/>
            <a:ext cx="237744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out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7772400" y="5358384"/>
            <a:ext cx="2377440" cy="289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B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row-major   N²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10378440" y="1737360"/>
            <a:ext cx="1280160" cy="27432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378440" y="18745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2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10378440" y="239572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gs_top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10378440" y="2743200"/>
            <a:ext cx="1280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states</a:t>
            </a:r>
            <a:endParaRPr lang="en-US" sz="9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gen</a:t>
            </a:r>
            <a:endParaRPr lang="en-US" sz="9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write-addr</a:t>
            </a:r>
            <a:endParaRPr lang="en-US" sz="9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line</a:t>
            </a:r>
            <a:endParaRPr lang="en-US" sz="9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</a:t>
            </a:r>
            <a:endParaRPr lang="en-US" sz="9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handshakes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48640" y="58978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· busy · done · rank_def · ovf_flag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column, five phases, shared hardware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2057400" cy="25146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691640"/>
            <a:ext cx="2057400" cy="457200"/>
          </a:xfrm>
          <a:prstGeom prst="rect">
            <a:avLst/>
          </a:prstGeom>
          <a:solidFill>
            <a:srgbClr val="2EC4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916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12648" y="22860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‖v_j‖²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12648" y="29260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v_j through vec_mac,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accumulate exactly in 48 bits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87752" y="2926080"/>
            <a:ext cx="173736" cy="0"/>
          </a:xfrm>
          <a:prstGeom prst="line">
            <a:avLst/>
          </a:prstGeom>
          <a:noFill/>
          <a:ln w="19050">
            <a:solidFill>
              <a:srgbClr val="5A6B7D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788920" y="1691640"/>
            <a:ext cx="2057400" cy="25146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9050">
            <a:solidFill>
              <a:srgbClr val="8A5FB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88920" y="1691640"/>
            <a:ext cx="2057400" cy="457200"/>
          </a:xfrm>
          <a:prstGeom prst="rect">
            <a:avLst/>
          </a:prstGeom>
          <a:solidFill>
            <a:srgbClr val="8A5F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88920" y="16916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RSQ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898648" y="22860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1/‖v_j‖ and ‖v_j‖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898648" y="29260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rsqrt_unit call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R[j][j]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73752" y="2926080"/>
            <a:ext cx="173736" cy="0"/>
          </a:xfrm>
          <a:prstGeom prst="line">
            <a:avLst/>
          </a:prstGeom>
          <a:noFill/>
          <a:ln w="19050">
            <a:solidFill>
              <a:srgbClr val="5A6B7D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074920" y="1691640"/>
            <a:ext cx="2057400" cy="25146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9050">
            <a:solidFill>
              <a:srgbClr val="FF9F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74920" y="1691640"/>
            <a:ext cx="2057400" cy="457200"/>
          </a:xfrm>
          <a:prstGeom prst="rect">
            <a:avLst/>
          </a:prstGeom>
          <a:solidFill>
            <a:srgbClr val="FF9F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74920" y="16916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184648" y="22860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q_j = v_j · (1/‖v_j‖)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84648" y="29260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vec_axpy in normalise mode,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place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159752" y="2926080"/>
            <a:ext cx="173736" cy="0"/>
          </a:xfrm>
          <a:prstGeom prst="line">
            <a:avLst/>
          </a:prstGeom>
          <a:noFill/>
          <a:ln w="19050">
            <a:solidFill>
              <a:srgbClr val="5A6B7D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360920" y="1691640"/>
            <a:ext cx="2057400" cy="25146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60920" y="1691640"/>
            <a:ext cx="2057400" cy="457200"/>
          </a:xfrm>
          <a:prstGeom prst="rect">
            <a:avLst/>
          </a:prstGeom>
          <a:solidFill>
            <a:srgbClr val="2EC4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60920" y="16916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470648" y="22860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R[j][k] = q_j · v_k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470648" y="29260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vec_mac again,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later column k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445752" y="2926080"/>
            <a:ext cx="173736" cy="0"/>
          </a:xfrm>
          <a:prstGeom prst="line">
            <a:avLst/>
          </a:prstGeom>
          <a:noFill/>
          <a:ln w="19050">
            <a:solidFill>
              <a:srgbClr val="5A6B7D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646920" y="1691640"/>
            <a:ext cx="2057400" cy="25146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9050">
            <a:solidFill>
              <a:srgbClr val="FF9F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646920" y="1691640"/>
            <a:ext cx="2057400" cy="457200"/>
          </a:xfrm>
          <a:prstGeom prst="rect">
            <a:avLst/>
          </a:prstGeom>
          <a:solidFill>
            <a:srgbClr val="FF9F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46920" y="16916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756648" y="22860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v_k −= R[j][k] · q_j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756648" y="29260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vec_axpy in subtract mode,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place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10652760" y="4224528"/>
            <a:ext cx="0" cy="411480"/>
          </a:xfrm>
          <a:prstGeom prst="line">
            <a:avLst/>
          </a:prstGeom>
          <a:noFill/>
          <a:ln w="15240">
            <a:solidFill>
              <a:srgbClr val="5A6B7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366760" y="4636008"/>
            <a:ext cx="2286000" cy="0"/>
          </a:xfrm>
          <a:prstGeom prst="line">
            <a:avLst/>
          </a:prstGeom>
          <a:noFill/>
          <a:ln w="15240">
            <a:solidFill>
              <a:srgbClr val="5A6B7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366760" y="4636008"/>
            <a:ext cx="0" cy="-393192"/>
          </a:xfrm>
          <a:prstGeom prst="line">
            <a:avLst/>
          </a:prstGeom>
          <a:noFill/>
          <a:ln w="15240">
            <a:solidFill>
              <a:srgbClr val="5A6B7D"/>
            </a:solidFill>
            <a:prstDash val="solid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5486400" y="44988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for every remaining column k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02920" y="5120640"/>
            <a:ext cx="111099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8A97A8">
                <a:alpha val="1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77240" y="5321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what is reused: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 and PROJ are the same vec_mac. SCALE and UPD are the same vec_axpy, differing only by one control bit. Two multiplier arrays cover four of the five phases.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VEC_AXPY.V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decision 1 — one multiplier array, two jobs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 and projection removal are both “a vector times a scalar”. They are never active in the same cycle, so one array of P multipliers serves both.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112264"/>
            <a:ext cx="237744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use_dst = 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400300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B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NORMALISE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108960" y="22402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dst = sat_round(src · scalar)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9050">
            <a:solidFill>
              <a:srgbClr val="FF9F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935224"/>
            <a:ext cx="237744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use_dst = 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223260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B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108960" y="30632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7B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dst = dst_in − sat_round(src · scalar)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6675120" cy="2148840"/>
          </a:xfrm>
          <a:prstGeom prst="roundRect">
            <a:avLst>
              <a:gd name="adj" fmla="val 1277"/>
            </a:avLst>
          </a:prstGeom>
          <a:solidFill>
            <a:srgbClr val="0E1D33"/>
          </a:solidFill>
          <a:ln w="12700">
            <a:solidFill>
              <a:srgbClr val="2435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3904488"/>
            <a:ext cx="6345936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CFE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stage 1 : P multipliers, shared by both modes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CFE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 = 0; i &lt; P; i = i + 1)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CFE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prod[i] &lt;= $signed(src[i*W +: W]) * scalar;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CFE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stage 2 : requantise, optionally subtract, saturate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CFE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round_sat #(.IN_W(PW), .OUT_W(W), .SHIFT(SC_F)) u_rs (...);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CFE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wire signed [W:0] diff = $signed(dst_r[g*W +: W])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CFE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- $signed({t[W-1], t});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CFE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dst_o[i*W +: W] &lt;= use_r ? s_flat[...]   // PROJECT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CFE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: t_flat[...];  // NORMALISE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498080" y="2057400"/>
            <a:ext cx="4114800" cy="3886200"/>
          </a:xfrm>
          <a:prstGeom prst="roundRect">
            <a:avLst>
              <a:gd name="adj" fmla="val 1412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8A97A8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772400" y="2240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buys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772400" y="2752344"/>
            <a:ext cx="128016" cy="128016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18" name="Text 16"/>
          <p:cNvSpPr/>
          <p:nvPr/>
        </p:nvSpPr>
        <p:spPr>
          <a:xfrm>
            <a:off x="8028432" y="26974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the DSPs on the update path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028432" y="315468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array instead of two, for the entire projection-removal pipeline.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772400" y="3831336"/>
            <a:ext cx="128016" cy="128016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21" name="Text 19"/>
          <p:cNvSpPr/>
          <p:nvPr/>
        </p:nvSpPr>
        <p:spPr>
          <a:xfrm>
            <a:off x="8028432" y="377647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rounding policy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028432" y="423367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modes go through the same round_sat, so the error model has one entry, not two.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772400" y="4910328"/>
            <a:ext cx="128016" cy="128016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24" name="Text 22"/>
          <p:cNvSpPr/>
          <p:nvPr/>
        </p:nvSpPr>
        <p:spPr>
          <a:xfrm>
            <a:off x="8028432" y="4855464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Saturation, never wraparound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028432" y="5312664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Overflow clamps to ±max and raises a flag; a wrapped value would look plausible and be catastrophic.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RSQRT_UNIT.V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decision 2 — no divider, no square root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949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8A97A8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5087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algorithm needs two things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‖v‖</a:t>
            </a:r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to normalise the column
</a:t>
            </a:r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‖v‖</a:t>
            </a:r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to store as R[j][j]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1371600"/>
            <a:ext cx="53949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8A97A8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15087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naive answer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92240" y="187452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Instantiate a square-root block AND a divider. Two large, slow, awkward units — for one scalar per column.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0632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‖v‖   =   m · ( 1 / √m ) · 2ʰ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8640" y="354787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m / √m = √m, the reciprocal square root already contains the square root — one extra multiply recovers it.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206240"/>
            <a:ext cx="352044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8A97A8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43434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1691640" y="4526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50292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34×34, reused by every Newton–Raphson step and by the square-root recovery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297680" y="4206240"/>
            <a:ext cx="352044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8A97A8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26280" y="43434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9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5440680" y="4526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dividers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26280" y="50292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reciprocal falls out of the iteration itself — division never appears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046720" y="4206240"/>
            <a:ext cx="352044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8A97A8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275320" y="43434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9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9189720" y="4526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sqrt blocks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75320" y="50292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norm is recovered from a value the unit has already computed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over 616 directed tests: worst error 1.129 ulp on 1/√x and 0.500 ulp on √x, latency 24 cycles.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RSQRT_UNIT.V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the reciprocal square root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8521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19072"/>
            <a:ext cx="365760" cy="36576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19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57276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186537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‖v‖² to  m·2³⁰ with m ∈ [1,4)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an even exponent e;  h = e/2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74720" y="2340864"/>
            <a:ext cx="0" cy="109728"/>
          </a:xfrm>
          <a:prstGeom prst="line">
            <a:avLst/>
          </a:prstGeom>
          <a:noFill/>
          <a:ln w="15240">
            <a:solidFill>
              <a:srgbClr val="5A6B7D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48640" y="2450592"/>
            <a:ext cx="58521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2706624"/>
            <a:ext cx="365760" cy="36576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706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25603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285292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64-entry Q1.15 ROM gives ≈ 6 correct bits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(worst seed error 0.01526)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474720" y="3328416"/>
            <a:ext cx="0" cy="109728"/>
          </a:xfrm>
          <a:prstGeom prst="line">
            <a:avLst/>
          </a:prstGeom>
          <a:noFill/>
          <a:ln w="15240">
            <a:solidFill>
              <a:srgbClr val="5A6B7D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48640" y="3438144"/>
            <a:ext cx="58521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3694176"/>
            <a:ext cx="365760" cy="365760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6941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354787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80160" y="38404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← y (3 − m y²) / 2,  NR_ITER = 3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pass doubles the correct bits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474720" y="4315968"/>
            <a:ext cx="0" cy="109728"/>
          </a:xfrm>
          <a:prstGeom prst="line">
            <a:avLst/>
          </a:prstGeom>
          <a:noFill/>
          <a:ln w="15240">
            <a:solidFill>
              <a:srgbClr val="5A6B7D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48640" y="4425696"/>
            <a:ext cx="58521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" y="4681728"/>
            <a:ext cx="365760" cy="36576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681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280160" y="453542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80160" y="482803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√m = m·y, then denormalise both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by 2ʰ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675120" y="1463040"/>
            <a:ext cx="4937760" cy="2468880"/>
          </a:xfrm>
          <a:prstGeom prst="roundRect">
            <a:avLst>
              <a:gd name="adj" fmla="val 1111"/>
            </a:avLst>
          </a:prstGeom>
          <a:solidFill>
            <a:srgbClr val="0E1D33"/>
          </a:solidFill>
          <a:ln w="12700">
            <a:solidFill>
              <a:srgbClr val="24354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39712" y="1572768"/>
            <a:ext cx="4608576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CFE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S_MUL1:  t1 = y*y            &gt;&gt; MF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CFE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S_MUL2:  t3 = 3 - m*t1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CFE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S_MUL3:  y  = y*t3           &gt;&gt; (MF+1)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CFE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iter &lt;- iter + 1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CFE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st &lt;- (iter == NR_ITER-1)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CFE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? S_SQRT : S_MUL1;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CFE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S_SQRT:  ma &lt;- Mm;  mb &lt;- Yv;   // m * y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CFE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pr &lt;- pmul;            // = sqrt(m)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675120" y="4114800"/>
            <a:ext cx="49377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8A97A8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949440" y="42519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multiplier, sequenced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949440" y="4572000"/>
            <a:ext cx="4389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phase bit registers the operands on one edge and captures the product on the next, placing flip-flops on both sides of the multiplier. Three multiplies per iteration are folded onto the same 34×34 array, so more iterations cost cycles — never area.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562356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Newton–Raphson converges quadratically: 6 seed bits → 12 → 24 → beyond the 20 fractional bits the output format carries.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GS_TOP.V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decision 3 — update in place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783080" cy="868680"/>
          </a:xfrm>
          <a:prstGeom prst="roundRect">
            <a:avLst>
              <a:gd name="adj" fmla="val 6316"/>
            </a:avLst>
          </a:prstGeom>
          <a:solidFill>
            <a:srgbClr val="E8EEF5"/>
          </a:solidFill>
          <a:ln w="19050">
            <a:solidFill>
              <a:srgbClr val="8FA3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916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a_j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input column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359152" y="2029968"/>
            <a:ext cx="256032" cy="0"/>
          </a:xfrm>
          <a:prstGeom prst="line">
            <a:avLst/>
          </a:prstGeom>
          <a:noFill/>
          <a:ln w="19050">
            <a:solidFill>
              <a:srgbClr val="5A6B7D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651760" y="1600200"/>
            <a:ext cx="1783080" cy="868680"/>
          </a:xfrm>
          <a:prstGeom prst="roundRect">
            <a:avLst>
              <a:gd name="adj" fmla="val 6316"/>
            </a:avLst>
          </a:prstGeom>
          <a:solidFill>
            <a:srgbClr val="FFF0DA"/>
          </a:solidFill>
          <a:ln w="19050">
            <a:solidFill>
              <a:srgbClr val="FF9F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0" y="16916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v_j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51760" y="20574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running residual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462272" y="2029968"/>
            <a:ext cx="256032" cy="0"/>
          </a:xfrm>
          <a:prstGeom prst="line">
            <a:avLst/>
          </a:prstGeom>
          <a:noFill/>
          <a:ln w="19050">
            <a:solidFill>
              <a:srgbClr val="5A6B7D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754880" y="1600200"/>
            <a:ext cx="1783080" cy="868680"/>
          </a:xfrm>
          <a:prstGeom prst="roundRect">
            <a:avLst>
              <a:gd name="adj" fmla="val 6316"/>
            </a:avLst>
          </a:prstGeom>
          <a:solidFill>
            <a:srgbClr val="D6F3F0"/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6916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q_j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54880" y="20574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unit vector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766560" y="17830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memory slot,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lifetimes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2606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second matrix buffer — which halves the memory relative to a source-and-destination design.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31546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write-address delay line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3611880"/>
            <a:ext cx="1463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67588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addr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39502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issued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039112" y="3941064"/>
            <a:ext cx="173736" cy="0"/>
          </a:xfrm>
          <a:prstGeom prst="line">
            <a:avLst/>
          </a:prstGeom>
          <a:noFill/>
          <a:ln w="19050">
            <a:solidFill>
              <a:srgbClr val="5A6B7D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2240280" y="3611880"/>
            <a:ext cx="1463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40280" y="367588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240280" y="39502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 cycle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730752" y="3941064"/>
            <a:ext cx="173736" cy="0"/>
          </a:xfrm>
          <a:prstGeom prst="line">
            <a:avLst/>
          </a:prstGeom>
          <a:noFill/>
          <a:ln w="19050">
            <a:solidFill>
              <a:srgbClr val="5A6B7D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3931920" y="3611880"/>
            <a:ext cx="1463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31920" y="367588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vec_axpy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931920" y="39502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+2 cycles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22392" y="3941064"/>
            <a:ext cx="173736" cy="0"/>
          </a:xfrm>
          <a:prstGeom prst="line">
            <a:avLst/>
          </a:prstGeom>
          <a:noFill/>
          <a:ln w="19050">
            <a:solidFill>
              <a:srgbClr val="5A6B7D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5623560" y="3611880"/>
            <a:ext cx="1463040" cy="658368"/>
          </a:xfrm>
          <a:prstGeom prst="roundRect">
            <a:avLst>
              <a:gd name="adj" fmla="val 6944"/>
            </a:avLst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23560" y="367588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addr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623560" y="39502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wa1→wa2→wa3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48640" y="443484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result must land in exactly the slot it came from. Three cycles of latency means three registers of address delay — derived from the same constants that define the module latencies, never hard-coded.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315200" y="3154680"/>
            <a:ext cx="4297680" cy="2331720"/>
          </a:xfrm>
          <a:prstGeom prst="roundRect">
            <a:avLst>
              <a:gd name="adj" fmla="val 2353"/>
            </a:avLst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89520" y="331012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the classic bug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589520" y="3657600"/>
            <a:ext cx="3749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9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off-by-one here does not crash. It writes each updated element one slot away from where it belongs, and the decomposition quietly returns a wrong answer that still looks like a matrix.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9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why the depth is computed from DRAIN and the module latencies, and why the testbench checks every output word against a bit-accurate model rather than a tolerance.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Elaboration-time checks enforce  M % P == 0  and  N ≤ M.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GS_TOP.V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control FSM — 15 states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3716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9050">
            <a:solidFill>
              <a:srgbClr val="8FA3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904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ST_IDLE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17465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start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947672" y="1728216"/>
            <a:ext cx="246888" cy="0"/>
          </a:xfrm>
          <a:prstGeom prst="line">
            <a:avLst/>
          </a:prstGeom>
          <a:noFill/>
          <a:ln w="19050">
            <a:solidFill>
              <a:srgbClr val="5A6B7D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221992" y="1463040"/>
            <a:ext cx="13716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9050">
            <a:solidFill>
              <a:srgbClr val="8FA3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21992" y="14904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ST_RCLR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221992" y="17465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21024" y="1728216"/>
            <a:ext cx="246888" cy="0"/>
          </a:xfrm>
          <a:prstGeom prst="line">
            <a:avLst/>
          </a:prstGeom>
          <a:noFill/>
          <a:ln w="19050">
            <a:solidFill>
              <a:srgbClr val="5A6B7D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895344" y="1463040"/>
            <a:ext cx="13716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9050">
            <a:solidFill>
              <a:srgbClr val="8FA3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95344" y="14904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ST_LOAD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895344" y="17465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M·N beats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294376" y="1728216"/>
            <a:ext cx="246888" cy="0"/>
          </a:xfrm>
          <a:prstGeom prst="line">
            <a:avLst/>
          </a:prstGeom>
          <a:noFill/>
          <a:ln w="19050">
            <a:solidFill>
              <a:srgbClr val="5A6B7D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623560" y="1188720"/>
            <a:ext cx="5989320" cy="3200400"/>
          </a:xfrm>
          <a:prstGeom prst="roundRect">
            <a:avLst>
              <a:gd name="adj" fmla="val 1714"/>
            </a:avLst>
          </a:prstGeom>
          <a:solidFill>
            <a:srgbClr val="EDF2F7"/>
          </a:solidFill>
          <a:ln w="19050">
            <a:solidFill>
              <a:srgbClr val="2EC4B6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806440" y="12801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178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column  j = 0 … N−1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852160" y="1600200"/>
            <a:ext cx="14173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0" y="162763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ST_NORM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852160" y="1883664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‖v‖²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296912" y="1865376"/>
            <a:ext cx="201168" cy="0"/>
          </a:xfrm>
          <a:prstGeom prst="line">
            <a:avLst/>
          </a:prstGeom>
          <a:noFill/>
          <a:ln w="19050">
            <a:solidFill>
              <a:srgbClr val="5A6B7D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498080" y="1600200"/>
            <a:ext cx="14173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0" y="162763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ST_NORM_D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498080" y="1883664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drain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942832" y="1865376"/>
            <a:ext cx="201168" cy="0"/>
          </a:xfrm>
          <a:prstGeom prst="line">
            <a:avLst/>
          </a:prstGeom>
          <a:noFill/>
          <a:ln w="19050">
            <a:solidFill>
              <a:srgbClr val="5A6B7D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144000" y="1600200"/>
            <a:ext cx="14173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9050">
            <a:solidFill>
              <a:srgbClr val="8A5F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0" y="162763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ST_RSQ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144000" y="1883664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1/‖v‖, ‖v‖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9857232" y="2148840"/>
            <a:ext cx="0" cy="274320"/>
          </a:xfrm>
          <a:prstGeom prst="line">
            <a:avLst/>
          </a:prstGeom>
          <a:noFill/>
          <a:ln w="15240">
            <a:solidFill>
              <a:srgbClr val="5A6B7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65392" y="2423160"/>
            <a:ext cx="3291840" cy="0"/>
          </a:xfrm>
          <a:prstGeom prst="line">
            <a:avLst/>
          </a:prstGeom>
          <a:noFill/>
          <a:ln w="15240">
            <a:solidFill>
              <a:srgbClr val="5A6B7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65392" y="2423160"/>
            <a:ext cx="0" cy="201168"/>
          </a:xfrm>
          <a:prstGeom prst="line">
            <a:avLst/>
          </a:prstGeom>
          <a:noFill/>
          <a:ln w="15240">
            <a:solidFill>
              <a:srgbClr val="5A6B7D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852160" y="2624328"/>
            <a:ext cx="14173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9050">
            <a:solidFill>
              <a:srgbClr val="FF9F1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52160" y="265176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ST_SCALE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852160" y="290779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q_j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296912" y="2889504"/>
            <a:ext cx="201168" cy="0"/>
          </a:xfrm>
          <a:prstGeom prst="line">
            <a:avLst/>
          </a:prstGeom>
          <a:noFill/>
          <a:ln w="19050">
            <a:solidFill>
              <a:srgbClr val="5A6B7D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7498080" y="2624328"/>
            <a:ext cx="14173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9050">
            <a:solidFill>
              <a:srgbClr val="FF9F1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98080" y="265176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ST_SCALE_D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498080" y="290779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drain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760720" y="3291840"/>
            <a:ext cx="571500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FF9F1C"/>
            </a:solidFill>
            <a:prstDash val="dash"/>
          </a:ln>
        </p:spPr>
      </p:sp>
      <p:sp>
        <p:nvSpPr>
          <p:cNvPr id="40" name="Text 38"/>
          <p:cNvSpPr/>
          <p:nvPr/>
        </p:nvSpPr>
        <p:spPr>
          <a:xfrm>
            <a:off x="5870448" y="33375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C97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k = j+1 … N−1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897880" y="3593592"/>
            <a:ext cx="12801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97880" y="3593592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ST_PROJ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7205472" y="3858768"/>
            <a:ext cx="146304" cy="0"/>
          </a:xfrm>
          <a:prstGeom prst="line">
            <a:avLst/>
          </a:prstGeom>
          <a:noFill/>
          <a:ln w="19050">
            <a:solidFill>
              <a:srgbClr val="5A6B7D"/>
            </a:solidFill>
            <a:prstDash val="solid"/>
            <a:headEnd type="none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7351776" y="3593592"/>
            <a:ext cx="12801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51776" y="3593592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ST_PROJ_D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8659368" y="3858768"/>
            <a:ext cx="146304" cy="0"/>
          </a:xfrm>
          <a:prstGeom prst="line">
            <a:avLst/>
          </a:prstGeom>
          <a:noFill/>
          <a:ln w="19050">
            <a:solidFill>
              <a:srgbClr val="5A6B7D"/>
            </a:solidFill>
            <a:prstDash val="solid"/>
            <a:headEnd type="none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8805672" y="3593592"/>
            <a:ext cx="12801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9050">
            <a:solidFill>
              <a:srgbClr val="FF9F1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805672" y="3593592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ST_UPD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10113264" y="3858768"/>
            <a:ext cx="146304" cy="0"/>
          </a:xfrm>
          <a:prstGeom prst="line">
            <a:avLst/>
          </a:prstGeom>
          <a:noFill/>
          <a:ln w="19050">
            <a:solidFill>
              <a:srgbClr val="5A6B7D"/>
            </a:solidFill>
            <a:prstDash val="solid"/>
            <a:headEnd type="none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10259568" y="3593592"/>
            <a:ext cx="1143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9050">
            <a:solidFill>
              <a:srgbClr val="FF9F1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259568" y="3593592"/>
            <a:ext cx="1143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ST_UPD_D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8595360" y="4416552"/>
            <a:ext cx="0" cy="274320"/>
          </a:xfrm>
          <a:prstGeom prst="line">
            <a:avLst/>
          </a:prstGeom>
          <a:noFill/>
          <a:ln w="19050">
            <a:solidFill>
              <a:srgbClr val="5A6B7D"/>
            </a:solidFill>
            <a:prstDash val="solid"/>
            <a:headEnd type="none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5852160" y="4709160"/>
            <a:ext cx="155448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9050">
            <a:solidFill>
              <a:srgbClr val="8FA3B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852160" y="473659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ST_OUTQ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5852160" y="4992624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col-major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7434072" y="4974336"/>
            <a:ext cx="219456" cy="0"/>
          </a:xfrm>
          <a:prstGeom prst="line">
            <a:avLst/>
          </a:prstGeom>
          <a:noFill/>
          <a:ln w="19050">
            <a:solidFill>
              <a:srgbClr val="5A6B7D"/>
            </a:solidFill>
            <a:prstDash val="solid"/>
            <a:headEnd type="none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7653528" y="4709160"/>
            <a:ext cx="155448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9050">
            <a:solidFill>
              <a:srgbClr val="8FA3B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653528" y="473659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ST_OUTR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7653528" y="4992624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row-major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9235440" y="4974336"/>
            <a:ext cx="219456" cy="0"/>
          </a:xfrm>
          <a:prstGeom prst="line">
            <a:avLst/>
          </a:prstGeom>
          <a:noFill/>
          <a:ln w="19050">
            <a:solidFill>
              <a:srgbClr val="5A6B7D"/>
            </a:solidFill>
            <a:prstDash val="solid"/>
            <a:headEnd type="none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9454896" y="4709160"/>
            <a:ext cx="1554480" cy="530352"/>
          </a:xfrm>
          <a:prstGeom prst="roundRect">
            <a:avLst>
              <a:gd name="adj" fmla="val 10345"/>
            </a:avLst>
          </a:prstGeom>
          <a:solidFill>
            <a:srgbClr val="16273F"/>
          </a:solidFill>
          <a:ln w="19050">
            <a:solidFill>
              <a:srgbClr val="16273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454896" y="473659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ST_FIN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9454896" y="4992624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pulse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548640" y="2377440"/>
            <a:ext cx="4846320" cy="288036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8A97A8">
                <a:alpha val="18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822960" y="254203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_D states exist</a:t>
            </a:r>
            <a:endParaRPr lang="en-US" sz="1500" dirty="0"/>
          </a:p>
        </p:txBody>
      </p:sp>
      <p:sp>
        <p:nvSpPr>
          <p:cNvPr id="66" name="Text 64"/>
          <p:cNvSpPr/>
          <p:nvPr/>
        </p:nvSpPr>
        <p:spPr>
          <a:xfrm>
            <a:off x="822960" y="288036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arithmetic block has pipeline latency. After the last element is issued, the FSM must wait DRAIN = 6 cycles for the result to emerge before acting on it. Rather than hide this in counters, each streaming phase has an explicit drain state — the latency becomes visible in the state diagram instead of buried in control logic.</a:t>
            </a:r>
            <a:endParaRPr lang="en-US" sz="1150" dirty="0"/>
          </a:p>
        </p:txBody>
      </p:sp>
      <p:sp>
        <p:nvSpPr>
          <p:cNvPr id="67" name="Text 65"/>
          <p:cNvSpPr/>
          <p:nvPr/>
        </p:nvSpPr>
        <p:spPr>
          <a:xfrm>
            <a:off x="822960" y="431596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is zeroed first, in ST_RCLR</a:t>
            </a:r>
            <a:endParaRPr lang="en-US" sz="1250" dirty="0"/>
          </a:p>
        </p:txBody>
      </p:sp>
      <p:sp>
        <p:nvSpPr>
          <p:cNvPr id="68" name="Text 66"/>
          <p:cNvSpPr/>
          <p:nvPr/>
        </p:nvSpPr>
        <p:spPr>
          <a:xfrm>
            <a:off x="822960" y="459028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strict lower triangle streams out as exact zeros with no special-case logic at the output port.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389120" cy="4389120"/>
          </a:xfrm>
          <a:prstGeom prst="ellipse">
            <a:avLst/>
          </a:prstGeom>
          <a:solidFill>
            <a:srgbClr val="12254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468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THREE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2834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repository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3794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RTL modules, a bit-accurate model, two testbenches, and the regression that found the bugs.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IN THE BOX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Repository map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4206240" cy="434340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361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rtl/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9808" y="18105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synthesisable Verilog-2001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49808" y="217627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gs_top.v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069080" y="217627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616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49808" y="2368296"/>
            <a:ext cx="3803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FSM, addressing, R memory, stream ports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749808" y="261518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vec_mac.v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069080" y="261518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49808" y="2807208"/>
            <a:ext cx="3803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P-lane dot product, exact accumulation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749808" y="305409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vec_axpy.v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069080" y="305409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107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49808" y="3246120"/>
            <a:ext cx="3803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P-lane scale / scale-and-subtract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749808" y="349300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rsqrt_unit.v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069080" y="349300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49808" y="3685032"/>
            <a:ext cx="3803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Newton–Raphson, returns 1/‖v‖ and ‖v‖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749808" y="393192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rsqrt_seed_rom.v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069080" y="393192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49808" y="4123944"/>
            <a:ext cx="3803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64×16 seed table (generated)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749808" y="437083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round_sat.v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069080" y="43708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49808" y="4562856"/>
            <a:ext cx="3803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round-half-up + signed saturate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749808" y="480974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ram_2r1w.v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069080" y="480974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49808" y="5001768"/>
            <a:ext cx="3803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memory, mirrored banks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749808" y="524865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ram_1r1w.v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069080" y="524865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49808" y="5440680"/>
            <a:ext cx="3803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matrix memory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5010912" y="1417320"/>
            <a:ext cx="3429000" cy="43434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12080" y="153619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F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model/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212080" y="181051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golden reference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212080" y="217627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gs_model.py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754112" y="217627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9F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249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212080" y="2368296"/>
            <a:ext cx="3026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bit-accurate model — the source of truth</a:t>
            </a:r>
            <a:endParaRPr lang="en-US" sz="880" dirty="0"/>
          </a:p>
        </p:txBody>
      </p:sp>
      <p:sp>
        <p:nvSpPr>
          <p:cNvPr id="37" name="Text 35"/>
          <p:cNvSpPr/>
          <p:nvPr/>
        </p:nvSpPr>
        <p:spPr>
          <a:xfrm>
            <a:off x="5212080" y="274320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gen_stimulus.py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754112" y="274320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9F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145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212080" y="2935224"/>
            <a:ext cx="3026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stimulus + expected output, 6 cases</a:t>
            </a:r>
            <a:endParaRPr lang="en-US" sz="880" dirty="0"/>
          </a:p>
        </p:txBody>
      </p:sp>
      <p:sp>
        <p:nvSpPr>
          <p:cNvPr id="40" name="Text 38"/>
          <p:cNvSpPr/>
          <p:nvPr/>
        </p:nvSpPr>
        <p:spPr>
          <a:xfrm>
            <a:off x="5212080" y="3310128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check_qr.py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754112" y="33101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9F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127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212080" y="3502152"/>
            <a:ext cx="3026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numpy verification</a:t>
            </a:r>
            <a:endParaRPr lang="en-US" sz="880" dirty="0"/>
          </a:p>
        </p:txBody>
      </p:sp>
      <p:sp>
        <p:nvSpPr>
          <p:cNvPr id="43" name="Text 41"/>
          <p:cNvSpPr/>
          <p:nvPr/>
        </p:nvSpPr>
        <p:spPr>
          <a:xfrm>
            <a:off x="5212080" y="3877056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gen_seed_rom.py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754112" y="387705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9F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94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212080" y="4069080"/>
            <a:ext cx="3026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regenerates the seed ROM</a:t>
            </a:r>
            <a:endParaRPr lang="en-US" sz="880" dirty="0"/>
          </a:p>
        </p:txBody>
      </p:sp>
      <p:sp>
        <p:nvSpPr>
          <p:cNvPr id="46" name="Shape 44"/>
          <p:cNvSpPr/>
          <p:nvPr/>
        </p:nvSpPr>
        <p:spPr>
          <a:xfrm>
            <a:off x="8695944" y="1417320"/>
            <a:ext cx="3429000" cy="43434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897112" y="153619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5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tb/ · sim/ · syn/ · docs/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8897112" y="181051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and build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8897112" y="217627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tb_gs_top.v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1439144" y="217627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5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315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897112" y="2368296"/>
            <a:ext cx="3026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self-checking, random stalls</a:t>
            </a:r>
            <a:endParaRPr lang="en-US" sz="880" dirty="0"/>
          </a:p>
        </p:txBody>
      </p:sp>
      <p:sp>
        <p:nvSpPr>
          <p:cNvPr id="52" name="Text 50"/>
          <p:cNvSpPr/>
          <p:nvPr/>
        </p:nvSpPr>
        <p:spPr>
          <a:xfrm>
            <a:off x="8897112" y="2615184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tb_rsqrt.v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11439144" y="261518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5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175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8897112" y="2807208"/>
            <a:ext cx="3026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616 directed tests</a:t>
            </a:r>
            <a:endParaRPr lang="en-US" sz="880" dirty="0"/>
          </a:p>
        </p:txBody>
      </p:sp>
      <p:sp>
        <p:nvSpPr>
          <p:cNvPr id="55" name="Text 53"/>
          <p:cNvSpPr/>
          <p:nvPr/>
        </p:nvSpPr>
        <p:spPr>
          <a:xfrm>
            <a:off x="8897112" y="3054096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regress.py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11439144" y="305409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5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163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8897112" y="3246120"/>
            <a:ext cx="3026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23-configuration sweep</a:t>
            </a:r>
            <a:endParaRPr lang="en-US" sz="880" dirty="0"/>
          </a:p>
        </p:txBody>
      </p:sp>
      <p:sp>
        <p:nvSpPr>
          <p:cNvPr id="58" name="Text 56"/>
          <p:cNvSpPr/>
          <p:nvPr/>
        </p:nvSpPr>
        <p:spPr>
          <a:xfrm>
            <a:off x="8897112" y="3493008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Makefile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11439144" y="349300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5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73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8897112" y="3685032"/>
            <a:ext cx="3026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· rsqrt · lint · regress</a:t>
            </a:r>
            <a:endParaRPr lang="en-US" sz="880" dirty="0"/>
          </a:p>
        </p:txBody>
      </p:sp>
      <p:sp>
        <p:nvSpPr>
          <p:cNvPr id="61" name="Text 59"/>
          <p:cNvSpPr/>
          <p:nvPr/>
        </p:nvSpPr>
        <p:spPr>
          <a:xfrm>
            <a:off x="8897112" y="393192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synth_vivado.tcl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11439144" y="393192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5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8897112" y="4123944"/>
            <a:ext cx="3026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out-of-context synthesis + reports</a:t>
            </a:r>
            <a:endParaRPr lang="en-US" sz="880" dirty="0"/>
          </a:p>
        </p:txBody>
      </p:sp>
      <p:sp>
        <p:nvSpPr>
          <p:cNvPr id="64" name="Text 62"/>
          <p:cNvSpPr/>
          <p:nvPr/>
        </p:nvSpPr>
        <p:spPr>
          <a:xfrm>
            <a:off x="8897112" y="437083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docs/*.md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11439144" y="43708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5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359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8897112" y="4562856"/>
            <a:ext cx="3026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and fixed-point analysis</a:t>
            </a:r>
            <a:endParaRPr lang="en-US" sz="880" dirty="0"/>
          </a:p>
        </p:txBody>
      </p:sp>
      <p:sp>
        <p:nvSpPr>
          <p:cNvPr id="67" name="Text 65"/>
          <p:cNvSpPr/>
          <p:nvPr/>
        </p:nvSpPr>
        <p:spPr>
          <a:xfrm>
            <a:off x="548640" y="59436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2,600 lines total  ·  MIT licensed  ·  CI runs the model self-test, the seed-ROM reproducibility check, lint, Yosys elaboration and the full regression on every push.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gs_top.v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Parameters and ports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6675120" cy="4480560"/>
          </a:xfrm>
          <a:prstGeom prst="roundRect">
            <a:avLst>
              <a:gd name="adj" fmla="val 612"/>
            </a:avLst>
          </a:prstGeom>
          <a:solidFill>
            <a:srgbClr val="0E1D33"/>
          </a:solidFill>
          <a:ln w="12700">
            <a:solidFill>
              <a:srgbClr val="2435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481328"/>
            <a:ext cx="6345936" cy="4261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FE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gs_top #(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FE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parameter integer M       = 8,    // rows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FE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parameter integer N       = 4,    // columns, N &lt;= M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FE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parameter integer P       = 2,    // lanes, M % P == 0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FE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parameter integer W       = 18,   // datapath word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FE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parameter integer F       = 16,   // fractional bits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FE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parameter integer ACC_W   = 48,   // &gt;= 2W + log2(M)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FE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parameter integer SC_W    = 32,   // scalar width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FE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parameter integer SC_F    = 20,   // scalar fraction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FE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parameter integer NR_ITER = 3,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FE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parameter integer EPS_SHIFT = 2*F - 2*(SC_W-1-SC_F)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FE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)(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FE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input  wire         clk, rst_n,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FE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input  wire         start,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FE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output reg          busy, done,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FE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output reg          rank_def,   // sticky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FE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output reg          ovf_flag,   // sticky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FE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input  wire [W-1:0] s_a_tdata,  // A, column-major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FE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input  wire         s_a_tvalid,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FE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output wire         s_a_tready,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FE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output wire [W-1:0] m_q_tdata,  // Q, column-major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FE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output wire [W-1:0] m_r_tdata   // R, row-major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FE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498080" y="1444752"/>
            <a:ext cx="128016" cy="12801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0" y="1371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a parameter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0" y="167335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Geometry, word width, lane count and iteration count are all elaboration-time. Nothing is hard-coded to the 8×4 default.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498080" y="2596896"/>
            <a:ext cx="128016" cy="12801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0" y="252374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EPS_SHIFT is derived, not chosen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0" y="2825496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rank-deficiency threshold is computed from the scalar format, so the two can never drift apart. More on this later.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98080" y="3749040"/>
            <a:ext cx="128016" cy="12801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0" y="36758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AXI-Stream style throughout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0" y="397764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tdata / tvalid / tready on all three data ports, transfer on the rising edge when both are high.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498080" y="4901184"/>
            <a:ext cx="128016" cy="12801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0" y="48280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Sticky status flags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0" y="5129784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rank_def and ovf_flag latch for the whole decomposition — the core reports trouble rather than hiding it.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% P == 0  and  N &lt;= M  are checked at elaboration time and fail the build loudly.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vec_mac.v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dot product, with no intermediate rounding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6675120" cy="3200400"/>
          </a:xfrm>
          <a:prstGeom prst="roundRect">
            <a:avLst>
              <a:gd name="adj" fmla="val 857"/>
            </a:avLst>
          </a:prstGeom>
          <a:solidFill>
            <a:srgbClr val="0E1D33"/>
          </a:solidFill>
          <a:ln w="12700">
            <a:solidFill>
              <a:srgbClr val="2435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481328"/>
            <a:ext cx="6345936" cy="298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CFE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stage 1 : P parallel multipliers</a:t>
            </a:r>
            <a:endParaRPr lang="en-US" sz="10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CFE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 = 0; i &lt; P; i = i + 1)</a:t>
            </a:r>
            <a:endParaRPr lang="en-US" sz="10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CFE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prod[i] &lt;= $signed(a[i*W +: W])</a:t>
            </a:r>
            <a:endParaRPr lang="en-US" sz="10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CFE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* $signed(b[i*W +: W]);</a:t>
            </a:r>
            <a:endParaRPr lang="en-US" sz="1050" dirty="0"/>
          </a:p>
          <a:p>
            <a:pPr indent="0" marL="0">
              <a:lnSpc>
                <a:spcPts val="1450"/>
              </a:lnSpc>
              <a:buNone/>
            </a:pPr>
            <a:endParaRPr lang="en-US" sz="10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CFE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stage 2 : adder tree, sign-extended to ACC_W</a:t>
            </a:r>
            <a:endParaRPr lang="en-US" sz="10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CFE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always @* begin</a:t>
            </a:r>
            <a:endParaRPr lang="en-US" sz="10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CFE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sum_c = {ACC_W{1'b0}};</a:t>
            </a:r>
            <a:endParaRPr lang="en-US" sz="10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CFE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 = 0; i &lt; P; i = i + 1)</a:t>
            </a:r>
            <a:endParaRPr lang="en-US" sz="10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CFE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sum_c = sum_c</a:t>
            </a:r>
            <a:endParaRPr lang="en-US" sz="10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CFE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+ {{(ACC_W-PW){prod[i][PW-1]}}, prod[i]};</a:t>
            </a:r>
            <a:endParaRPr lang="en-US" sz="10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CFE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050" dirty="0"/>
          </a:p>
          <a:p>
            <a:pPr indent="0" marL="0">
              <a:lnSpc>
                <a:spcPts val="1450"/>
              </a:lnSpc>
              <a:buNone/>
            </a:pPr>
            <a:endParaRPr lang="en-US" sz="10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CFE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stage 3 : running accumulator, ACC_W = 48 bits</a:t>
            </a:r>
            <a:endParaRPr lang="en-US" sz="10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CFE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(clr)       acc &lt;= {ACC_W{1'b0}};</a:t>
            </a:r>
            <a:endParaRPr lang="en-US" sz="10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CFE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if (v2)   acc &lt;= acc + sum2;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498080" y="1371600"/>
            <a:ext cx="4114800" cy="2103120"/>
          </a:xfrm>
          <a:prstGeom prst="roundRect">
            <a:avLst>
              <a:gd name="adj" fmla="val 2609"/>
            </a:avLst>
          </a:prstGeom>
          <a:solidFill>
            <a:srgbClr val="16273F"/>
          </a:solidFill>
          <a:ln w="12700">
            <a:solidFill>
              <a:srgbClr val="2435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153619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48 bits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0" y="1874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ACC_W  ≥  2·W + ⌈log₂ M⌉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0" y="224028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product of two Q2.16 values is Q4.32. Summing M of them needs log₂M more bits of headroom. At W=18, M=64 that is 42 — so 48 leaves margin all the way to M = 4096.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498080" y="3657600"/>
            <a:ext cx="4114800" cy="2194560"/>
          </a:xfrm>
          <a:prstGeom prst="roundRect">
            <a:avLst>
              <a:gd name="adj" fmla="val 2500"/>
            </a:avLst>
          </a:prstGeom>
          <a:solidFill>
            <a:srgbClr val="16273F"/>
          </a:solidFill>
          <a:ln w="12700">
            <a:solidFill>
              <a:srgbClr val="2435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0" y="382219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payoff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0" y="4160520"/>
            <a:ext cx="3566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accumulator holds every partial sum exactly, a dot product rounds exactly once — when the final result is written back.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design that rounded after each MAC would inject M independent errors into every projection coefficient, and MGS would lose the accuracy it was chosen for.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480060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pipeline stages: multiply → adder tree → accumulate. Latency 3 cycles from en to acc.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F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model/gs_model.py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golden model reproduces the hardware bit for bit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6675120" cy="3566160"/>
          </a:xfrm>
          <a:prstGeom prst="roundRect">
            <a:avLst>
              <a:gd name="adj" fmla="val 769"/>
            </a:avLst>
          </a:prstGeom>
          <a:solidFill>
            <a:srgbClr val="0E1D33"/>
          </a:solidFill>
          <a:ln w="12700">
            <a:solidFill>
              <a:srgbClr val="2435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481328"/>
            <a:ext cx="6345936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6D3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rnd_sat(x, shift, w):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6D3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"""round-half-up then saturate - matches round_sat.v"""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6D3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 = (x + (1 &lt;&lt; (shift - 1))) &gt;&gt; shift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6D3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sat(y, w)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6D3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mgs_fixed(A, W=18, F=16, ...):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6D3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j in range(N):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6D3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n2 = sum(v[i][j] * v[i][j] for i in range(M))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6D3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n2 &lt; EPS_NORM2:          # cannot normalise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6D3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rank_def = True         # -&gt; R[j][j] = 0, q_j = 0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6D3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continue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6D3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y, s = rsqrt_fx(n2)         # same seed ROM, same NR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6D3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i in range(M):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6D3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v[i][j] = rnd_sat(v[i][j] * y, SC_F, W)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6D3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k in range(j + 1, N):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6D3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 = rnd_sat(dot(v[:,j], v[:,k]), F, W)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6D3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for i in range(M):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6D3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v[i][k] -= rnd_sat(v[i][j] * r, F, W)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498080" y="1444752"/>
            <a:ext cx="128016" cy="128016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0" y="1371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arithmetic only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0" y="167335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floats anywhere in the model — every value is the same integer the RTL registers hold.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498080" y="2596896"/>
            <a:ext cx="128016" cy="128016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0" y="252374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rounding, same saturation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0" y="2825496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rnd_sat mirrors round_sat.v exactly, including the half-up bias.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98080" y="3749040"/>
            <a:ext cx="128016" cy="128016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0" y="36758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seed table, same iterations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0" y="397764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rsqrt_fx walks the identical 64-entry ROM and the identical three Newton steps.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498080" y="4901184"/>
            <a:ext cx="128016" cy="128016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0" y="48280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equality, not tolerance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0" y="5129784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testbench asserts every output word matches. A tolerance check would hide the very bugs this is built to catch.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512064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for the slide — the real model also tracks the overflow flag and the full rsqrt normalisation.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IS CHECKED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Verification: three layers that fail in different 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768096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64208"/>
            <a:ext cx="365760" cy="36576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64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1627632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Bit-exact model match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25880" y="1947672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 and R word must equal the golden model exactly.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325880" y="2249424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78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Catches: addressing errors, off-by-one delay lines, control bugs, rounding differences.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880360"/>
            <a:ext cx="768096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081528"/>
            <a:ext cx="365760" cy="365760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081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25880" y="3044952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numpy check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25880" y="3364992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check_qr.py recomputes A−QR, QᵀQ−I, triangularity and diagonal sign from the raw output.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325880" y="3666744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A7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Catches: cases where RTL and model agree but both are wrong — a shared design mistake.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297680"/>
            <a:ext cx="768096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498848"/>
            <a:ext cx="365760" cy="365760"/>
          </a:xfrm>
          <a:prstGeom prst="ellipse">
            <a:avLst/>
          </a:prstGeom>
          <a:solidFill>
            <a:srgbClr val="8A5FBF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498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25880" y="4462272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Directed unit tests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25880" y="4782312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616 rsqrt vectors across 13 octaves; lint; Yosys elaboration with check -assert.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325880" y="5084064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4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Catches: numerical corner cases, inferred latches, multiply-driven nets.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503920" y="1463040"/>
            <a:ext cx="3108960" cy="4114800"/>
          </a:xfrm>
          <a:prstGeom prst="roundRect">
            <a:avLst>
              <a:gd name="adj" fmla="val 1765"/>
            </a:avLst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78240" y="16459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asserted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778240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006840" y="20574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9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beat counts on all three streams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778240" y="2532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006840" y="253288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9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strictly upper triangular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778240" y="30083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006840" y="3008376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9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non-negative R diagonal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778240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006840" y="3483864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9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back-to-back runs identical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778240" y="39593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006840" y="395935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9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input bubbles tolerated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778240" y="4434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006840" y="44348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9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output backpressure tolerated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778240" y="4910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006840" y="491032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9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ROM regenerates byte-identical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48640" y="58064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is the one that matters most: bit-exactness proves the hardware matches the intent, but it cannot tell you the intent was wrong.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Regression results — 23 of 23 configurations pass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0515600" cy="411480"/>
          </a:xfrm>
          <a:prstGeom prst="rect">
            <a:avLst/>
          </a:prstGeom>
          <a:solidFill>
            <a:srgbClr val="16273F"/>
          </a:solidFill>
          <a:ln w="6350">
            <a:solidFill>
              <a:srgbClr val="1627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630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423160" y="14630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983480" y="1463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12280" y="14630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orthogonality error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281160" y="14630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1874520"/>
            <a:ext cx="10515600" cy="429768"/>
          </a:xfrm>
          <a:prstGeom prst="rect">
            <a:avLst/>
          </a:prstGeom>
          <a:solidFill>
            <a:srgbClr val="EDF2F7"/>
          </a:solidFill>
          <a:ln w="6350">
            <a:solidFill>
              <a:srgbClr val="EDF2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874520"/>
            <a:ext cx="1737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423160" y="1874520"/>
            <a:ext cx="2560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8×4 … 64×16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983480" y="1874520"/>
            <a:ext cx="1828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1,2,4,8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812280" y="1874520"/>
            <a:ext cx="2468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 – 4.6 LSB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281160" y="1874520"/>
            <a:ext cx="1920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8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pass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2304288"/>
            <a:ext cx="1051560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304288"/>
            <a:ext cx="1737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illcond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423160" y="2304288"/>
            <a:ext cx="2560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κ(A) = 1.0×10³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983480" y="2304288"/>
            <a:ext cx="1828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2,4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812280" y="2304288"/>
            <a:ext cx="2468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 – 102 LSB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281160" y="2304288"/>
            <a:ext cx="1920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8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pass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2734056"/>
            <a:ext cx="10515600" cy="429768"/>
          </a:xfrm>
          <a:prstGeom prst="rect">
            <a:avLst/>
          </a:prstGeom>
          <a:solidFill>
            <a:srgbClr val="EDF2F7"/>
          </a:solidFill>
          <a:ln w="6350">
            <a:solidFill>
              <a:srgbClr val="EDF2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2734056"/>
            <a:ext cx="1737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extreme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423160" y="2734056"/>
            <a:ext cx="2560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κ(A) ≈ 2×10⁵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983480" y="2734056"/>
            <a:ext cx="1828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2,4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812280" y="2734056"/>
            <a:ext cx="2468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rank_def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281160" y="2734056"/>
            <a:ext cx="1920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8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pass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3163824"/>
            <a:ext cx="1051560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3163824"/>
            <a:ext cx="1737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rankdef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2423160" y="3163824"/>
            <a:ext cx="2560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duplicated column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983480" y="3163824"/>
            <a:ext cx="1828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2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812280" y="3163824"/>
            <a:ext cx="2468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rank_def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9281160" y="3163824"/>
            <a:ext cx="1920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8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pass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48640" y="3593592"/>
            <a:ext cx="10515600" cy="429768"/>
          </a:xfrm>
          <a:prstGeom prst="rect">
            <a:avLst/>
          </a:prstGeom>
          <a:solidFill>
            <a:srgbClr val="EDF2F7"/>
          </a:solidFill>
          <a:ln w="6350">
            <a:solidFill>
              <a:srgbClr val="EDF2F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3593592"/>
            <a:ext cx="1737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identity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2423160" y="3593592"/>
            <a:ext cx="2560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κ(A) = 1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983480" y="3593592"/>
            <a:ext cx="1828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2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812280" y="3593592"/>
            <a:ext cx="2468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 LSB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9281160" y="3593592"/>
            <a:ext cx="1920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8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pass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48640" y="4023360"/>
            <a:ext cx="1051560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" y="4023360"/>
            <a:ext cx="1737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hadamard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2423160" y="4023360"/>
            <a:ext cx="2560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κ(A) = 1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4983480" y="4023360"/>
            <a:ext cx="1828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2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6812280" y="4023360"/>
            <a:ext cx="2468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 LSB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9281160" y="4023360"/>
            <a:ext cx="1920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8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pass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548640" y="4617720"/>
            <a:ext cx="512064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8A97A8">
                <a:alpha val="1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822960" y="47731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case matched the model exactly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822960" y="5102352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for word, including the failing configurations before they were fixed — which is precisely how the scalar-saturation bug was isolated to the format rather than the logic.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5943600" y="4617720"/>
            <a:ext cx="512064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8A97A8">
                <a:alpha val="1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6217920" y="47731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against theory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6217920" y="5102352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MGS predicts ≈ κ/2 LSB of orthogonality loss. At κ = 10³ that bound is 500 LSB; the hardware measures 102. The results sit at or below the bound across four orders of magnitude.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WENT WRONG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bugs the regression caught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20440" cy="420624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91640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71907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Lane counters sized wrong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33172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pack_cnt and out_el were sized from the chunk count M/P instead of the lane count P. Whenever P exceeded M/P the counter could not reach P−1.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35204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Symptom: hung forever in ST_LOAD at M=8, P=8.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77240" y="4434840"/>
            <a:ext cx="3063240" cy="0"/>
          </a:xfrm>
          <a:prstGeom prst="line">
            <a:avLst/>
          </a:prstGeom>
          <a:noFill/>
          <a:ln w="12700">
            <a:solidFill>
              <a:srgbClr val="D7DE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553712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78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a separate LCW = clog2(P+1) width for lane counters.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97680" y="1463040"/>
            <a:ext cx="3520440" cy="420624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26280" y="1691640"/>
            <a:ext cx="365760" cy="365760"/>
          </a:xfrm>
          <a:prstGeom prst="ellipse">
            <a:avLst/>
          </a:prstGeom>
          <a:solidFill>
            <a:srgbClr val="C97B0F"/>
          </a:solidFill>
          <a:ln/>
        </p:spPr>
      </p:sp>
      <p:sp>
        <p:nvSpPr>
          <p:cNvPr id="14" name="Text 12"/>
          <p:cNvSpPr/>
          <p:nvPr/>
        </p:nvSpPr>
        <p:spPr>
          <a:xfrm>
            <a:off x="452628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0" y="171907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C97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Scalar saturation, silently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26280" y="233172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1/‖v‖ was Q8.24, saturating at 128. Ill-conditioned input drove residual norms to 0.002, needing a factor of 455.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26280" y="35204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Symptom: a confident, plausible, wrong Q — and the model agreed, because it shared the format.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26280" y="4434840"/>
            <a:ext cx="3063240" cy="0"/>
          </a:xfrm>
          <a:prstGeom prst="line">
            <a:avLst/>
          </a:prstGeom>
          <a:noFill/>
          <a:ln w="12700">
            <a:solidFill>
              <a:srgbClr val="D7DE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26280" y="4553712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78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widen to Q12.20 and derive the rank threshold from the saturation point.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046720" y="1463040"/>
            <a:ext cx="3520440" cy="420624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75320" y="1691640"/>
            <a:ext cx="365760" cy="365760"/>
          </a:xfrm>
          <a:prstGeom prst="ellipse">
            <a:avLst/>
          </a:prstGeom>
          <a:solidFill>
            <a:srgbClr val="6B4C99"/>
          </a:solidFill>
          <a:ln/>
        </p:spPr>
      </p:sp>
      <p:sp>
        <p:nvSpPr>
          <p:cNvPr id="22" name="Text 20"/>
          <p:cNvSpPr/>
          <p:nvPr/>
        </p:nvSpPr>
        <p:spPr>
          <a:xfrm>
            <a:off x="827532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778240" y="171907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6B4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testbench defects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275320" y="233172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$itor truncates to 32 bits, mislabelling a 1.25 input as 0.25. And the AXI handshake was sampled on the wrong clock edge.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75320" y="35204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Symptom: two 'RTL failures' where the RTL was correct all along.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275320" y="4434840"/>
            <a:ext cx="3063240" cy="0"/>
          </a:xfrm>
          <a:prstGeom prst="line">
            <a:avLst/>
          </a:prstGeom>
          <a:noFill/>
          <a:ln w="12700">
            <a:solidFill>
              <a:srgbClr val="D7DE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75320" y="4553712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78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16-bit-limbed conversion; drive and sample on posedge. Both are commented at the point they bit.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middle one is the lesson: bit-exactness against a reference proves the hardware matches the intent. It cannot tell you the intent was wrong — only the independent check could.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AND AREA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— a cycle model that is exact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cycles  =  (M/P + 6)·N·(N+1)  +  26·N  +  3·(M/P)·N  +  2·M·N  +  5·N²  +  1</a:t>
            </a:r>
            <a:endParaRPr lang="en-US" sz="15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2468880"/>
          <a:ext cx="67665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589520" y="2468880"/>
            <a:ext cx="402336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8A97A8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863840" y="2606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at all nine points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863840" y="29260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equals measured with no fitting, from 8×4 up to 64×16. The formula is a design tool, not an estimate.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589520" y="4160520"/>
            <a:ext cx="402336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8A97A8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863840" y="42976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 pays off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863840" y="461772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8×4, going P=1 → P=8 buys only 1.6× — streaming and rsqrt overheads dominate. Lanes pay off for tall matrices, where M/P is the leading term.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Multiplier count is exactly 2P + 1, confirmed by Yosys cell counts. On Xilinx, roughly 3P + 4 DSP48E1.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DOES NOT 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limits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9496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01368"/>
            <a:ext cx="329184" cy="329184"/>
          </a:xfrm>
          <a:prstGeom prst="ellipse">
            <a:avLst/>
          </a:prstGeom>
          <a:solidFill>
            <a:srgbClr val="FFF0DA"/>
          </a:solidFill>
          <a:ln w="19050">
            <a:solidFill>
              <a:srgbClr val="FF9F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01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7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25880" y="178308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Conditioning ceiling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25880" y="2167128"/>
            <a:ext cx="4343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accuracy needs κ(A) below roughly 4×10³ at default parameters. Beyond that the engine raises rank_def and zeroes the column — deliberately, rather than emitting a plausible wrong answer.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09360" y="1508760"/>
            <a:ext cx="539496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1801368"/>
            <a:ext cx="329184" cy="329184"/>
          </a:xfrm>
          <a:prstGeom prst="ellipse">
            <a:avLst/>
          </a:prstGeom>
          <a:solidFill>
            <a:srgbClr val="FFF0DA"/>
          </a:solidFill>
          <a:ln w="19050">
            <a:solidFill>
              <a:srgbClr val="FF9F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1801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7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086600" y="178308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scaling is the user's job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86600" y="2167128"/>
            <a:ext cx="4343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point has no automatic exponent. Columns must be scaled to ‖a_j‖ &lt; 2 before they arrive.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657600"/>
            <a:ext cx="539496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950208"/>
            <a:ext cx="329184" cy="329184"/>
          </a:xfrm>
          <a:prstGeom prst="ellipse">
            <a:avLst/>
          </a:prstGeom>
          <a:solidFill>
            <a:srgbClr val="FFF0DA"/>
          </a:solidFill>
          <a:ln w="19050">
            <a:solidFill>
              <a:srgbClr val="FF9F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950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7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25880" y="393192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is elaboration-checked only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25880" y="4315968"/>
            <a:ext cx="4343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Yosys passes cleanly with no latches or multiply-driven nets. But Yosys is not Vivado — the 3P+4 DSP estimate and the ~166 MHz target in gs.xdc are informed projections, not measured results. Run the Vivado script on the real part before trusting either.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09360" y="3657600"/>
            <a:ext cx="539496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0" y="3950208"/>
            <a:ext cx="329184" cy="329184"/>
          </a:xfrm>
          <a:prstGeom prst="ellipse">
            <a:avLst/>
          </a:prstGeom>
          <a:solidFill>
            <a:srgbClr val="FFF0DA"/>
          </a:solidFill>
          <a:ln w="19050">
            <a:solidFill>
              <a:srgbClr val="FF9F1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3950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7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086600" y="393192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MGS, not Householder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86600" y="4315968"/>
            <a:ext cx="4343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unconditional backward stability with orthogonality independent of κ(A), Householder reflections are the right answer — at the cost of a much heavier, less streamable datapath.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is documented in docs/fixed_point.md with the derivation behind it.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3840480"/>
            <a:ext cx="4023360" cy="4023360"/>
          </a:xfrm>
          <a:prstGeom prst="ellipse">
            <a:avLst/>
          </a:prstGeom>
          <a:solidFill>
            <a:srgbClr val="12254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SUMMARY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02412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decisions carry the design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3429000" cy="2103120"/>
          </a:xfrm>
          <a:prstGeom prst="roundRect">
            <a:avLst>
              <a:gd name="adj" fmla="val 2609"/>
            </a:avLst>
          </a:prstGeom>
          <a:solidFill>
            <a:srgbClr val="16273F"/>
          </a:solidFill>
          <a:ln w="12700">
            <a:solidFill>
              <a:srgbClr val="2435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8992" y="2057400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8992" y="26060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Modified, not Classical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078992" y="312724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Orthogonality degrades like u·κ(A) instead of u·κ(A)². At κ=10³ the hardware measures 102 LSB where CGS would give roughly 5×10⁵ — nothing usable.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26280" y="1828800"/>
            <a:ext cx="3429000" cy="2103120"/>
          </a:xfrm>
          <a:prstGeom prst="roundRect">
            <a:avLst>
              <a:gd name="adj" fmla="val 2609"/>
            </a:avLst>
          </a:prstGeom>
          <a:solidFill>
            <a:srgbClr val="16273F"/>
          </a:solidFill>
          <a:ln w="12700">
            <a:solidFill>
              <a:srgbClr val="24354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82312" y="2057400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2" name="Text 10"/>
          <p:cNvSpPr/>
          <p:nvPr/>
        </p:nvSpPr>
        <p:spPr>
          <a:xfrm>
            <a:off x="4782312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82312" y="26060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array, two operations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782312" y="312724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 and projection removal share vec_axpy, halving the DSP cost of the update path.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229600" y="1828800"/>
            <a:ext cx="3429000" cy="2103120"/>
          </a:xfrm>
          <a:prstGeom prst="roundRect">
            <a:avLst>
              <a:gd name="adj" fmla="val 2609"/>
            </a:avLst>
          </a:prstGeom>
          <a:solidFill>
            <a:srgbClr val="16273F"/>
          </a:solidFill>
          <a:ln w="12700">
            <a:solidFill>
              <a:srgbClr val="24354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85632" y="2057400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7" name="Text 15"/>
          <p:cNvSpPr/>
          <p:nvPr/>
        </p:nvSpPr>
        <p:spPr>
          <a:xfrm>
            <a:off x="8485632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85632" y="26060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divider, no square root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485632" y="312724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rsqrt_unit recovers ‖v‖ = m·(1/√m)·2ʰ from the same multiplier Newton–Raphson already uses.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22960" y="4251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yourself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22960" y="4663440"/>
            <a:ext cx="5669280" cy="1371600"/>
          </a:xfrm>
          <a:prstGeom prst="roundRect">
            <a:avLst>
              <a:gd name="adj" fmla="val 2000"/>
            </a:avLst>
          </a:prstGeom>
          <a:solidFill>
            <a:srgbClr val="0A1526"/>
          </a:solidFill>
          <a:ln w="12700">
            <a:solidFill>
              <a:srgbClr val="2435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7552" y="4773168"/>
            <a:ext cx="534009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FE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sim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FE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test                # build, simulate, self-check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FE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regress             # 23-configuration sweep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FE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test M=16 N=8 P=4   # any geometry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040880" y="4617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9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23/23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503920" y="467258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configurations pass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040880" y="5120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9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exact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503920" y="517550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to the bit-accurate model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040880" y="5623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9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2P+1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503920" y="567842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multipliers, no divider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Fixed-Point Gram-Schmidt QR Engine</dc:title>
  <dc:subject>PptxGenJS Presentation</dc:subject>
  <dc:creator>GSQ project</dc:creator>
  <cp:lastModifiedBy>GSQ project</cp:lastModifiedBy>
  <cp:revision>1</cp:revision>
  <dcterms:created xsi:type="dcterms:W3CDTF">2026-08-15T10:06:57Z</dcterms:created>
  <dcterms:modified xsi:type="dcterms:W3CDTF">2026-08-15T10:06:57Z</dcterms:modified>
</cp:coreProperties>
</file>